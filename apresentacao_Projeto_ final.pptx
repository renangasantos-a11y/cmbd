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100" d="100"/>
          <a:sy n="100" d="100"/>
        </p:scale>
        <p:origin x="-1944" y="-31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smtClean="0"/>
              <a:t>Clique para editar o estilo do título mestre</a:t>
            </a:r>
            <a:endParaRPr lang="pt-B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idx="1"/>
          </p:nvPr>
        </p:nvSpPr>
        <p:spPr/>
        <p:txBody>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smtClean="0"/>
              <a:t>Clique para editar os estilos do texto mestre</a:t>
            </a:r>
          </a:p>
        </p:txBody>
      </p:sp>
      <p:sp>
        <p:nvSpPr>
          <p:cNvPr id="4" name="Espaço Reservado para Data 3"/>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8" name="Espaço Reservado para Rodapé 7"/>
          <p:cNvSpPr>
            <a:spLocks noGrp="1"/>
          </p:cNvSpPr>
          <p:nvPr>
            <p:ph type="ftr" sz="quarter" idx="11"/>
          </p:nvPr>
        </p:nvSpPr>
        <p:spPr/>
        <p:txBody>
          <a:bodyPr/>
          <a:lstStyle/>
          <a:p>
            <a:endParaRPr lang="pt-BR" dirty="0"/>
          </a:p>
        </p:txBody>
      </p:sp>
      <p:sp>
        <p:nvSpPr>
          <p:cNvPr id="9" name="Espaço Reservado para Número de Slide 8"/>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Data 2"/>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4" name="Espaço Reservado para Rodapé 3"/>
          <p:cNvSpPr>
            <a:spLocks noGrp="1"/>
          </p:cNvSpPr>
          <p:nvPr>
            <p:ph type="ftr" sz="quarter" idx="11"/>
          </p:nvPr>
        </p:nvSpPr>
        <p:spPr/>
        <p:txBody>
          <a:bodyPr/>
          <a:lstStyle/>
          <a:p>
            <a:endParaRPr lang="pt-BR" dirty="0"/>
          </a:p>
        </p:txBody>
      </p:sp>
      <p:sp>
        <p:nvSpPr>
          <p:cNvPr id="5" name="Espaço Reservado para Número de Slide 4"/>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3" name="Espaço Reservado para Rodapé 2"/>
          <p:cNvSpPr>
            <a:spLocks noGrp="1"/>
          </p:cNvSpPr>
          <p:nvPr>
            <p:ph type="ftr" sz="quarter" idx="11"/>
          </p:nvPr>
        </p:nvSpPr>
        <p:spPr/>
        <p:txBody>
          <a:bodyPr/>
          <a:lstStyle/>
          <a:p>
            <a:endParaRPr lang="pt-BR" dirty="0"/>
          </a:p>
        </p:txBody>
      </p:sp>
      <p:sp>
        <p:nvSpPr>
          <p:cNvPr id="4" name="Espaço Reservado para Número de Slide 3"/>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smtClean="0"/>
              <a:t>Clique para editar o estilo do título mestre</a:t>
            </a:r>
            <a:endParaRPr lang="pt-B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smtClean="0"/>
              <a:t>Clique para editar o estilo do título mestre</a:t>
            </a:r>
            <a:endParaRPr lang="pt-B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dirty="0"/>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smtClean="0"/>
              <a:t>Clique para editar os estilos do texto mestre</a:t>
            </a:r>
          </a:p>
        </p:txBody>
      </p:sp>
      <p:sp>
        <p:nvSpPr>
          <p:cNvPr id="5" name="Espaço Reservado para Data 4"/>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smtClean="0"/>
              <a:t>Clique para editar o estilo do título mestre</a:t>
            </a:r>
            <a:endParaRPr lang="pt-B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1DA22CE-C50F-4172-8ABE-90851B31855B}" type="datetimeFigureOut">
              <a:rPr lang="pt-BR" smtClean="0"/>
              <a:t>15/10/2026</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EBD64E23-CE92-45DC-8CB7-701769D7E9C5}" type="slidenum">
              <a:rPr lang="pt-BR" smtClean="0"/>
              <a:t>‹nº›</a:t>
            </a:fld>
            <a:endParaRPr lang="pt-B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smtClean="0"/>
              <a:t>Clique para editar o estilo do título mestre</a:t>
            </a:r>
            <a:endParaRPr lang="pt-B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smtClean="0"/>
              <a:t>Clique para editar os estilos do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DA22CE-C50F-4172-8ABE-90851B31855B}" type="datetimeFigureOut">
              <a:rPr lang="pt-BR" smtClean="0"/>
              <a:t>15/10/2026</a:t>
            </a:fld>
            <a:endParaRPr lang="pt-BR" dirty="0"/>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D64E23-CE92-45DC-8CB7-701769D7E9C5}" type="slidenum">
              <a:rPr lang="pt-BR" smtClean="0"/>
              <a:t>‹nº›</a:t>
            </a:fld>
            <a:endParaRPr lang="pt-B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r>
              <a:rPr lang="pt-BR" sz="4800" i="1" dirty="0" smtClean="0"/>
              <a:t>Projeto final</a:t>
            </a:r>
            <a:endParaRPr lang="pt-BR" sz="4800" i="1" dirty="0"/>
          </a:p>
        </p:txBody>
      </p:sp>
      <p:sp>
        <p:nvSpPr>
          <p:cNvPr id="3" name="Subtítulo 2"/>
          <p:cNvSpPr>
            <a:spLocks noGrp="1"/>
          </p:cNvSpPr>
          <p:nvPr>
            <p:ph type="subTitle" idx="1"/>
          </p:nvPr>
        </p:nvSpPr>
        <p:spPr/>
        <p:txBody>
          <a:bodyPr>
            <a:normAutofit/>
          </a:bodyPr>
          <a:lstStyle/>
          <a:p>
            <a:r>
              <a:rPr lang="pt-BR" sz="1100" dirty="0" smtClean="0">
                <a:solidFill>
                  <a:schemeClr val="tx1"/>
                </a:solidFill>
              </a:rPr>
              <a:t>Renan Guilherme </a:t>
            </a:r>
            <a:r>
              <a:rPr lang="pt-BR" sz="1100" dirty="0">
                <a:solidFill>
                  <a:schemeClr val="tx1"/>
                </a:solidFill>
              </a:rPr>
              <a:t>S</a:t>
            </a:r>
            <a:r>
              <a:rPr lang="pt-BR" sz="1100" dirty="0" smtClean="0">
                <a:solidFill>
                  <a:schemeClr val="tx1"/>
                </a:solidFill>
              </a:rPr>
              <a:t>antana dos Santos</a:t>
            </a:r>
            <a:endParaRPr lang="pt-BR" sz="11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b="1" i="1" dirty="0" err="1"/>
              <a:t>S.PROCEDURES</a:t>
            </a:r>
            <a:r>
              <a:rPr lang="pt-BR" b="1" i="1" dirty="0"/>
              <a:t> </a:t>
            </a:r>
            <a:endParaRPr lang="pt-BR" dirty="0"/>
          </a:p>
        </p:txBody>
      </p:sp>
      <p:sp>
        <p:nvSpPr>
          <p:cNvPr id="3" name="Espaço Reservado para Conteúdo 2"/>
          <p:cNvSpPr>
            <a:spLocks noGrp="1"/>
          </p:cNvSpPr>
          <p:nvPr>
            <p:ph idx="1"/>
          </p:nvPr>
        </p:nvSpPr>
        <p:spPr/>
        <p:txBody>
          <a:bodyPr numCol="1">
            <a:normAutofit/>
          </a:bodyPr>
          <a:lstStyle/>
          <a:p>
            <a:r>
              <a:rPr lang="pt-BR" sz="1800" dirty="0" smtClean="0">
                <a:solidFill>
                  <a:schemeClr val="tx1">
                    <a:lumMod val="95000"/>
                    <a:lumOff val="5000"/>
                  </a:schemeClr>
                </a:solidFill>
                <a:effectLst>
                  <a:outerShdw blurRad="38100" dist="38100" dir="2700000" algn="tl">
                    <a:srgbClr val="000000">
                      <a:alpha val="43137"/>
                    </a:srgbClr>
                  </a:outerShdw>
                </a:effectLst>
              </a:rPr>
              <a:t>O</a:t>
            </a:r>
            <a:r>
              <a:rPr lang="pt-BR" sz="1800" dirty="0" smtClean="0">
                <a:solidFill>
                  <a:schemeClr val="tx1">
                    <a:lumMod val="95000"/>
                    <a:lumOff val="5000"/>
                  </a:schemeClr>
                </a:solidFill>
              </a:rPr>
              <a:t> </a:t>
            </a:r>
            <a:r>
              <a:rPr lang="pt-BR" sz="1800" dirty="0" smtClean="0">
                <a:solidFill>
                  <a:schemeClr val="tx1">
                    <a:lumMod val="95000"/>
                    <a:lumOff val="5000"/>
                  </a:schemeClr>
                </a:solidFill>
                <a:effectLst>
                  <a:outerShdw blurRad="38100" dist="38100" dir="2700000" algn="tl">
                    <a:srgbClr val="000000">
                      <a:alpha val="43137"/>
                    </a:srgbClr>
                  </a:outerShdw>
                </a:effectLst>
              </a:rPr>
              <a:t>que são</a:t>
            </a:r>
            <a:r>
              <a:rPr lang="pt-BR" sz="1800" dirty="0" smtClean="0">
                <a:solidFill>
                  <a:schemeClr val="tx1">
                    <a:lumMod val="95000"/>
                    <a:lumOff val="5000"/>
                  </a:schemeClr>
                </a:solidFill>
              </a:rPr>
              <a:t>: </a:t>
            </a:r>
            <a:r>
              <a:rPr lang="pt-BR" sz="1800" dirty="0" smtClean="0"/>
              <a:t>Conjuntos de comandos SQL armazenados no banco de dados.</a:t>
            </a:r>
          </a:p>
          <a:p>
            <a:endParaRPr lang="pt-BR" sz="1800" dirty="0" smtClean="0"/>
          </a:p>
          <a:p>
            <a:r>
              <a:rPr lang="pt-BR" sz="1800" dirty="0" smtClean="0">
                <a:effectLst>
                  <a:outerShdw blurRad="38100" dist="38100" dir="2700000" algn="tl">
                    <a:srgbClr val="000000">
                      <a:alpha val="43137"/>
                    </a:srgbClr>
                  </a:outerShdw>
                </a:effectLst>
              </a:rPr>
              <a:t>Para que servem</a:t>
            </a:r>
            <a:r>
              <a:rPr lang="pt-BR" sz="1800" dirty="0" smtClean="0"/>
              <a:t>: Realizam tarefas específicas, como cadastrar, atualizar e consultar informações.</a:t>
            </a:r>
          </a:p>
          <a:p>
            <a:endParaRPr lang="pt-BR" sz="1800" dirty="0" smtClean="0"/>
          </a:p>
          <a:p>
            <a:r>
              <a:rPr lang="pt-BR" sz="1800" dirty="0" smtClean="0">
                <a:effectLst>
                  <a:outerShdw blurRad="38100" dist="38100" dir="2700000" algn="tl">
                    <a:srgbClr val="000000">
                      <a:alpha val="43137"/>
                    </a:srgbClr>
                  </a:outerShdw>
                </a:effectLst>
              </a:rPr>
              <a:t>Vantagens</a:t>
            </a:r>
            <a:r>
              <a:rPr lang="pt-BR" sz="1800" dirty="0" smtClean="0"/>
              <a:t>: Evitam a repetição de códigos e facilitam a organização.</a:t>
            </a:r>
          </a:p>
          <a:p>
            <a:endParaRPr lang="pt-BR" sz="1800" dirty="0" smtClean="0"/>
          </a:p>
          <a:p>
            <a:r>
              <a:rPr lang="pt-BR" sz="1800" dirty="0" smtClean="0">
                <a:effectLst>
                  <a:outerShdw blurRad="38100" dist="38100" dir="2700000" algn="tl">
                    <a:srgbClr val="000000">
                      <a:alpha val="43137"/>
                    </a:srgbClr>
                  </a:outerShdw>
                </a:effectLst>
              </a:rPr>
              <a:t>Importância</a:t>
            </a:r>
            <a:r>
              <a:rPr lang="pt-BR" sz="1800" dirty="0" smtClean="0"/>
              <a:t>:  Automatizam processos e tornam o banco de dados mais eficiente.</a:t>
            </a:r>
          </a:p>
          <a:p>
            <a:endParaRPr lang="pt-BR" sz="1800" dirty="0" smtClean="0"/>
          </a:p>
          <a:p>
            <a:r>
              <a:rPr lang="pt-BR" sz="1800" dirty="0" smtClean="0">
                <a:effectLst>
                  <a:outerShdw blurRad="38100" dist="38100" dir="2700000" algn="tl">
                    <a:srgbClr val="000000">
                      <a:alpha val="43137"/>
                    </a:srgbClr>
                  </a:outerShdw>
                </a:effectLst>
              </a:rPr>
              <a:t>No </a:t>
            </a:r>
            <a:r>
              <a:rPr lang="pt-BR" sz="1800" dirty="0" err="1" smtClean="0">
                <a:effectLst>
                  <a:outerShdw blurRad="38100" dist="38100" dir="2700000" algn="tl">
                    <a:srgbClr val="000000">
                      <a:alpha val="43137"/>
                    </a:srgbClr>
                  </a:outerShdw>
                </a:effectLst>
              </a:rPr>
              <a:t>Laragon</a:t>
            </a:r>
            <a:r>
              <a:rPr lang="pt-BR" sz="1800" dirty="0" smtClean="0"/>
              <a:t>: Ajudam a executar operações no banco de dados </a:t>
            </a:r>
            <a:r>
              <a:rPr lang="pt-BR" sz="1800" dirty="0" err="1" smtClean="0"/>
              <a:t>MySQL</a:t>
            </a:r>
            <a:r>
              <a:rPr lang="pt-BR" sz="1800" dirty="0" smtClean="0"/>
              <a:t> de maneira prática e organizada.</a:t>
            </a:r>
          </a:p>
          <a:p>
            <a:pPr>
              <a:buNone/>
            </a:pPr>
            <a:endParaRPr lang="pt-B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effectLst>
                  <a:outerShdw blurRad="38100" dist="38100" dir="2700000" algn="tl">
                    <a:srgbClr val="000000">
                      <a:alpha val="43137"/>
                    </a:srgbClr>
                  </a:outerShdw>
                </a:effectLst>
              </a:rPr>
              <a:t>Tabela clientes</a:t>
            </a: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57200" y="1600201"/>
            <a:ext cx="8229600" cy="1614486"/>
          </a:xfrm>
        </p:spPr>
        <p:txBody>
          <a:bodyPr>
            <a:normAutofit/>
          </a:bodyPr>
          <a:lstStyle/>
          <a:p>
            <a:pPr>
              <a:buNone/>
            </a:pPr>
            <a:endParaRPr lang="pt-BR" sz="1800" dirty="0" smtClean="0"/>
          </a:p>
          <a:p>
            <a:pPr>
              <a:buNone/>
            </a:pPr>
            <a:r>
              <a:rPr lang="pt-BR" sz="1600" dirty="0" smtClean="0"/>
              <a:t>A tabela Clientes armazena as informações dos clientes cadastrados no banco de dados, como nome, CPF/CNPJ, endereço, CEP e telefone. Ela serve para identificar os clientes, facilitar o contato e manter os dados organizados. Além disso, relaciona-se com a tabela Pedidos, permitindo consultar quais compras ou pedidos foram realizados por cada cliente.</a:t>
            </a:r>
          </a:p>
          <a:p>
            <a:pPr>
              <a:buNone/>
            </a:pPr>
            <a:endParaRPr lang="pt-BR" sz="1600" dirty="0"/>
          </a:p>
          <a:p>
            <a:pPr>
              <a:buNone/>
            </a:pPr>
            <a:endParaRPr lang="pt-BR" sz="1600" dirty="0" smtClean="0"/>
          </a:p>
          <a:p>
            <a:pPr>
              <a:buNone/>
            </a:pPr>
            <a:endParaRPr lang="pt-BR" sz="1600" dirty="0"/>
          </a:p>
          <a:p>
            <a:pPr>
              <a:buNone/>
            </a:pPr>
            <a:endParaRPr lang="pt-BR" sz="1600" dirty="0" smtClean="0"/>
          </a:p>
          <a:p>
            <a:pPr>
              <a:buNone/>
            </a:pPr>
            <a:endParaRPr lang="pt-BR" sz="1600" dirty="0"/>
          </a:p>
          <a:p>
            <a:pPr>
              <a:buNone/>
            </a:pPr>
            <a:endParaRPr lang="pt-BR" sz="1600" dirty="0" smtClean="0"/>
          </a:p>
        </p:txBody>
      </p:sp>
      <p:pic>
        <p:nvPicPr>
          <p:cNvPr id="1029" name="Picture 5"/>
          <p:cNvPicPr>
            <a:picLocks noChangeAspect="1" noChangeArrowheads="1"/>
          </p:cNvPicPr>
          <p:nvPr/>
        </p:nvPicPr>
        <p:blipFill>
          <a:blip r:embed="rId2"/>
          <a:srcRect/>
          <a:stretch>
            <a:fillRect/>
          </a:stretch>
        </p:blipFill>
        <p:spPr bwMode="auto">
          <a:xfrm>
            <a:off x="214282" y="4429132"/>
            <a:ext cx="8619606" cy="1017424"/>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28596" y="285728"/>
            <a:ext cx="8229600" cy="1143000"/>
          </a:xfrm>
        </p:spPr>
        <p:txBody>
          <a:bodyPr/>
          <a:lstStyle/>
          <a:p>
            <a:r>
              <a:rPr lang="pt-BR" dirty="0" smtClean="0">
                <a:effectLst>
                  <a:outerShdw blurRad="38100" dist="38100" dir="2700000" algn="tl">
                    <a:srgbClr val="000000">
                      <a:alpha val="43137"/>
                    </a:srgbClr>
                  </a:outerShdw>
                </a:effectLst>
              </a:rPr>
              <a:t>Tabela compras </a:t>
            </a: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57200" y="1600201"/>
            <a:ext cx="8229600" cy="1543047"/>
          </a:xfrm>
        </p:spPr>
        <p:txBody>
          <a:bodyPr>
            <a:normAutofit/>
          </a:bodyPr>
          <a:lstStyle/>
          <a:p>
            <a:pPr>
              <a:buNone/>
            </a:pPr>
            <a:r>
              <a:rPr lang="pt-BR" sz="1600" dirty="0" smtClean="0"/>
              <a:t>A tabela Compras armazena as informações das compras realizadas pela empresa com seus fornecedores. Nela, ficam registrados dados como o fornecedor, o produto, a quantidade comprada, o código da compra e a data. Ela serve para controlar as compras realizadas, acompanhar a entrada de produtos e facilitar a reposição do estoque. Além disso, ajuda a organizar o histórico de compras e a identificar quais fornecedores fornecem cada produto.</a:t>
            </a:r>
            <a:endParaRPr lang="pt-BR" sz="1600" dirty="0"/>
          </a:p>
        </p:txBody>
      </p:sp>
      <p:pic>
        <p:nvPicPr>
          <p:cNvPr id="2051" name="Picture 3"/>
          <p:cNvPicPr>
            <a:picLocks noChangeAspect="1" noChangeArrowheads="1"/>
          </p:cNvPicPr>
          <p:nvPr/>
        </p:nvPicPr>
        <p:blipFill>
          <a:blip r:embed="rId2"/>
          <a:srcRect/>
          <a:stretch>
            <a:fillRect/>
          </a:stretch>
        </p:blipFill>
        <p:spPr bwMode="auto">
          <a:xfrm>
            <a:off x="1428728" y="4714884"/>
            <a:ext cx="5878513" cy="117157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effectLst>
                  <a:outerShdw blurRad="38100" dist="38100" dir="2700000" algn="tl">
                    <a:srgbClr val="000000">
                      <a:alpha val="43137"/>
                    </a:srgbClr>
                  </a:outerShdw>
                </a:effectLst>
              </a:rPr>
              <a:t>Tabela fornecedor</a:t>
            </a: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28596" y="1428736"/>
            <a:ext cx="8229600" cy="1614485"/>
          </a:xfrm>
        </p:spPr>
        <p:txBody>
          <a:bodyPr>
            <a:normAutofit/>
          </a:bodyPr>
          <a:lstStyle/>
          <a:p>
            <a:pPr>
              <a:buNone/>
            </a:pPr>
            <a:r>
              <a:rPr lang="pt-BR" sz="1600" dirty="0" smtClean="0"/>
              <a:t>A tabela Fornecedores armazena as informações das empresas ou pessoas que fornecem produtos para o estabelecimento. Nela, ficam registrados dados como nome, CPF/CNPJ, bairro, CEP e telefone. Ela serve para facilitar o contato com os fornecedores, organizar seus dados e controlar de quem os produtos são adquiridos. Além disso, relaciona-se com a tabela Compras, permitindo identificar quais fornecedores forneceram os produtos para a empresa.</a:t>
            </a:r>
            <a:endParaRPr lang="pt-BR" sz="1600" dirty="0"/>
          </a:p>
        </p:txBody>
      </p:sp>
      <p:pic>
        <p:nvPicPr>
          <p:cNvPr id="3074" name="Picture 2"/>
          <p:cNvPicPr>
            <a:picLocks noChangeAspect="1" noChangeArrowheads="1"/>
          </p:cNvPicPr>
          <p:nvPr/>
        </p:nvPicPr>
        <p:blipFill>
          <a:blip r:embed="rId2"/>
          <a:srcRect/>
          <a:stretch>
            <a:fillRect/>
          </a:stretch>
        </p:blipFill>
        <p:spPr bwMode="auto">
          <a:xfrm>
            <a:off x="500034" y="3929066"/>
            <a:ext cx="8078787" cy="117157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effectLst>
                  <a:outerShdw blurRad="38100" dist="38100" dir="2700000" algn="tl">
                    <a:srgbClr val="000000">
                      <a:alpha val="43137"/>
                    </a:srgbClr>
                  </a:outerShdw>
                </a:effectLst>
              </a:rPr>
              <a:t>Tabela pedido</a:t>
            </a: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500034" y="1571612"/>
            <a:ext cx="8229600" cy="1614485"/>
          </a:xfrm>
        </p:spPr>
        <p:txBody>
          <a:bodyPr>
            <a:normAutofit/>
          </a:bodyPr>
          <a:lstStyle/>
          <a:p>
            <a:pPr>
              <a:buNone/>
            </a:pPr>
            <a:r>
              <a:rPr lang="pt-BR" sz="1600" dirty="0" smtClean="0"/>
              <a:t>A tabela Pedidos armazena as informações dos pedidos realizados pelos clientes. Nela, ficam registrados dados como o código do cliente, o código do produto, o número do pedido, a quantidade solicitada e a data do pedido. Ela serve para organizar e acompanhar os pedidos realizados, facilitando o controle das vendas. Além disso, relaciona-se com as tabelas Clientes e Produtos, permitindo identificar quem realizou o pedido e quais produtos foram solicitados.</a:t>
            </a:r>
            <a:endParaRPr lang="pt-BR" sz="1600" dirty="0"/>
          </a:p>
        </p:txBody>
      </p:sp>
      <p:pic>
        <p:nvPicPr>
          <p:cNvPr id="4099" name="Picture 3"/>
          <p:cNvPicPr>
            <a:picLocks noChangeAspect="1" noChangeArrowheads="1"/>
          </p:cNvPicPr>
          <p:nvPr/>
        </p:nvPicPr>
        <p:blipFill>
          <a:blip r:embed="rId2"/>
          <a:srcRect/>
          <a:stretch>
            <a:fillRect/>
          </a:stretch>
        </p:blipFill>
        <p:spPr bwMode="auto">
          <a:xfrm>
            <a:off x="1571604" y="4500570"/>
            <a:ext cx="5849937" cy="12192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smtClean="0">
                <a:effectLst>
                  <a:outerShdw blurRad="38100" dist="38100" dir="2700000" algn="tl">
                    <a:srgbClr val="000000">
                      <a:alpha val="43137"/>
                    </a:srgbClr>
                  </a:outerShdw>
                </a:effectLst>
              </a:rPr>
              <a:t>Tabela produtos</a:t>
            </a: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57200" y="1785926"/>
            <a:ext cx="8229600" cy="2071702"/>
          </a:xfrm>
        </p:spPr>
        <p:txBody>
          <a:bodyPr>
            <a:normAutofit fontScale="85000" lnSpcReduction="20000"/>
          </a:bodyPr>
          <a:lstStyle/>
          <a:p>
            <a:pPr>
              <a:buNone/>
            </a:pPr>
            <a:r>
              <a:rPr lang="pt-BR" sz="1900" dirty="0" smtClean="0"/>
              <a:t>A </a:t>
            </a:r>
            <a:r>
              <a:rPr lang="pt-BR" sz="1900" b="1" dirty="0"/>
              <a:t>tabela Produtos</a:t>
            </a:r>
            <a:r>
              <a:rPr lang="pt-BR" sz="1900" dirty="0"/>
              <a:t> armazena as informações dos produtos cadastrados no banco de dados. Nela, ficam registrados dados como código de barras, nome, descrição, quantidade em estoque, valor e datas de fabricação e validade. Ela serve para organizar os produtos, controlar os preços e acompanhar a quantidade disponível no estoque. Além disso, ajuda a identificar os produtos vendidos nos pedidos e adquiridos por meio das compras, facilitando o gerenciamento do estoque da empresa.</a:t>
            </a:r>
          </a:p>
          <a:p>
            <a:pPr>
              <a:buNone/>
            </a:pPr>
            <a:r>
              <a:rPr lang="pt-BR" dirty="0" smtClean="0"/>
              <a:t/>
            </a:r>
            <a:br>
              <a:rPr lang="pt-BR" dirty="0" smtClean="0"/>
            </a:br>
            <a:endParaRPr lang="pt-BR" dirty="0"/>
          </a:p>
        </p:txBody>
      </p:sp>
      <p:pic>
        <p:nvPicPr>
          <p:cNvPr id="5122" name="Picture 2"/>
          <p:cNvPicPr>
            <a:picLocks noChangeAspect="1" noChangeArrowheads="1"/>
          </p:cNvPicPr>
          <p:nvPr/>
        </p:nvPicPr>
        <p:blipFill>
          <a:blip r:embed="rId2"/>
          <a:srcRect/>
          <a:stretch>
            <a:fillRect/>
          </a:stretch>
        </p:blipFill>
        <p:spPr bwMode="auto">
          <a:xfrm>
            <a:off x="714349" y="4572008"/>
            <a:ext cx="7786741" cy="1140193"/>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8229600" cy="868346"/>
          </a:xfrm>
        </p:spPr>
        <p:txBody>
          <a:bodyPr>
            <a:normAutofit fontScale="90000"/>
          </a:bodyPr>
          <a:lstStyle/>
          <a:p>
            <a:r>
              <a:rPr lang="pt-BR" dirty="0" err="1" smtClean="0">
                <a:effectLst>
                  <a:outerShdw blurRad="38100" dist="38100" dir="2700000" algn="tl">
                    <a:srgbClr val="000000">
                      <a:alpha val="43137"/>
                    </a:srgbClr>
                  </a:outerShdw>
                </a:effectLst>
              </a:rPr>
              <a:t>View_Clientes_Com_Mais_Compras</a:t>
            </a:r>
            <a:r>
              <a:rPr lang="pt-BR" dirty="0">
                <a:effectLst>
                  <a:outerShdw blurRad="38100" dist="38100" dir="2700000" algn="tl">
                    <a:srgbClr val="000000">
                      <a:alpha val="43137"/>
                    </a:srgbClr>
                  </a:outerShdw>
                </a:effectLst>
              </a:rPr>
              <a:t/>
            </a:r>
            <a:br>
              <a:rPr lang="pt-BR" dirty="0">
                <a:effectLst>
                  <a:outerShdw blurRad="38100" dist="38100" dir="2700000" algn="tl">
                    <a:srgbClr val="000000">
                      <a:alpha val="43137"/>
                    </a:srgbClr>
                  </a:outerShdw>
                </a:effectLst>
              </a:rPr>
            </a:b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57200" y="1600201"/>
            <a:ext cx="8229600" cy="1400171"/>
          </a:xfrm>
        </p:spPr>
        <p:txBody>
          <a:bodyPr>
            <a:normAutofit/>
          </a:bodyPr>
          <a:lstStyle/>
          <a:p>
            <a:pPr>
              <a:buNone/>
            </a:pPr>
            <a:r>
              <a:rPr lang="pt-BR" sz="1600" dirty="0" smtClean="0"/>
              <a:t>A  </a:t>
            </a:r>
            <a:r>
              <a:rPr lang="pt-BR" sz="1600" dirty="0" err="1"/>
              <a:t>V</a:t>
            </a:r>
            <a:r>
              <a:rPr lang="pt-BR" sz="1600" dirty="0" err="1" smtClean="0"/>
              <a:t>iew_Clientes_Com_Mais_Compras</a:t>
            </a:r>
            <a:r>
              <a:rPr lang="pt-BR" sz="1600" dirty="0" smtClean="0"/>
              <a:t> é uma visualização do banco de dados que mostra os clientes que realizaram mais compras ou pedidos. Ela serve para identificar os clientes mais ativos, facilitando a análise das vendas e do comportamento dos consumidores. Além disso, ajuda a empresa a conhecer melhor seus clientes e a criar estratégias para melhorar o atendimento e aumentar as vendas.</a:t>
            </a:r>
            <a:endParaRPr lang="pt-BR" sz="1600" dirty="0"/>
          </a:p>
        </p:txBody>
      </p:sp>
      <p:pic>
        <p:nvPicPr>
          <p:cNvPr id="6146" name="Picture 2"/>
          <p:cNvPicPr>
            <a:picLocks noChangeAspect="1" noChangeArrowheads="1"/>
          </p:cNvPicPr>
          <p:nvPr/>
        </p:nvPicPr>
        <p:blipFill>
          <a:blip r:embed="rId2"/>
          <a:srcRect/>
          <a:stretch>
            <a:fillRect/>
          </a:stretch>
        </p:blipFill>
        <p:spPr bwMode="auto">
          <a:xfrm>
            <a:off x="1928794" y="3714752"/>
            <a:ext cx="4513779" cy="2071702"/>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err="1" smtClean="0">
                <a:effectLst>
                  <a:outerShdw blurRad="38100" dist="38100" dir="2700000" algn="tl">
                    <a:srgbClr val="000000">
                      <a:alpha val="43137"/>
                    </a:srgbClr>
                  </a:outerShdw>
                </a:effectLst>
              </a:rPr>
              <a:t>View_Compra_Detalhada</a:t>
            </a:r>
            <a:r>
              <a:rPr lang="pt-BR" dirty="0">
                <a:effectLst>
                  <a:outerShdw blurRad="38100" dist="38100" dir="2700000" algn="tl">
                    <a:srgbClr val="000000">
                      <a:alpha val="43137"/>
                    </a:srgbClr>
                  </a:outerShdw>
                </a:effectLst>
              </a:rPr>
              <a:t/>
            </a:r>
            <a:br>
              <a:rPr lang="pt-BR" dirty="0">
                <a:effectLst>
                  <a:outerShdw blurRad="38100" dist="38100" dir="2700000" algn="tl">
                    <a:srgbClr val="000000">
                      <a:alpha val="43137"/>
                    </a:srgbClr>
                  </a:outerShdw>
                </a:effectLst>
              </a:rPr>
            </a:b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57200" y="1600201"/>
            <a:ext cx="8229600" cy="1685924"/>
          </a:xfrm>
        </p:spPr>
        <p:txBody>
          <a:bodyPr>
            <a:normAutofit/>
          </a:bodyPr>
          <a:lstStyle/>
          <a:p>
            <a:pPr>
              <a:buNone/>
            </a:pPr>
            <a:r>
              <a:rPr lang="pt-BR" sz="1600" dirty="0" smtClean="0"/>
              <a:t>A </a:t>
            </a:r>
            <a:r>
              <a:rPr lang="pt-BR" sz="1600" b="1" dirty="0" err="1"/>
              <a:t>view_compra_detalhada</a:t>
            </a:r>
            <a:r>
              <a:rPr lang="pt-BR" sz="1600" dirty="0"/>
              <a:t> é uma visualização do banco de dados que reúne as principais informações das compras realizadas pela empresa. Ela permite consultar dados como fornecedores, produtos, quantidades compradas, códigos e datas das compras. Sua principal função é facilitar a análise e o acompanhamento das compras, ajudando a empresa a organizar os registros, controlar a entrada de produtos no estoque e identificar quais fornecedores estão sendo utilizados.</a:t>
            </a:r>
          </a:p>
          <a:p>
            <a:pPr>
              <a:buNone/>
            </a:pPr>
            <a:endParaRPr lang="pt-BR" sz="1600" dirty="0"/>
          </a:p>
        </p:txBody>
      </p:sp>
      <p:pic>
        <p:nvPicPr>
          <p:cNvPr id="7170" name="Picture 2"/>
          <p:cNvPicPr>
            <a:picLocks noChangeAspect="1" noChangeArrowheads="1"/>
          </p:cNvPicPr>
          <p:nvPr/>
        </p:nvPicPr>
        <p:blipFill>
          <a:blip r:embed="rId2"/>
          <a:srcRect/>
          <a:stretch>
            <a:fillRect/>
          </a:stretch>
        </p:blipFill>
        <p:spPr bwMode="auto">
          <a:xfrm>
            <a:off x="500034" y="4214818"/>
            <a:ext cx="8269287" cy="115252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r>
              <a:rPr lang="pt-BR" sz="2800" dirty="0" smtClean="0">
                <a:effectLst>
                  <a:outerShdw blurRad="38100" dist="38100" dir="2700000" algn="tl">
                    <a:srgbClr val="000000">
                      <a:alpha val="43137"/>
                    </a:srgbClr>
                  </a:outerShdw>
                </a:effectLst>
              </a:rPr>
              <a:t>View_Consolidação_De_Compras_Por_Fornecedor</a:t>
            </a:r>
            <a:r>
              <a:rPr lang="pt-BR" sz="2800" dirty="0">
                <a:effectLst>
                  <a:outerShdw blurRad="38100" dist="38100" dir="2700000" algn="tl">
                    <a:srgbClr val="000000">
                      <a:alpha val="43137"/>
                    </a:srgbClr>
                  </a:outerShdw>
                </a:effectLst>
              </a:rPr>
              <a:t/>
            </a:r>
            <a:br>
              <a:rPr lang="pt-BR" sz="2800" dirty="0">
                <a:effectLst>
                  <a:outerShdw blurRad="38100" dist="38100" dir="2700000" algn="tl">
                    <a:srgbClr val="000000">
                      <a:alpha val="43137"/>
                    </a:srgbClr>
                  </a:outerShdw>
                </a:effectLst>
              </a:rPr>
            </a:br>
            <a:endParaRPr lang="pt-BR" sz="2800"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57200" y="1214423"/>
            <a:ext cx="8229600" cy="1857388"/>
          </a:xfrm>
        </p:spPr>
        <p:txBody>
          <a:bodyPr>
            <a:normAutofit/>
          </a:bodyPr>
          <a:lstStyle/>
          <a:p>
            <a:pPr>
              <a:buNone/>
            </a:pPr>
            <a:r>
              <a:rPr lang="pt-BR" sz="1700" dirty="0" smtClean="0"/>
              <a:t>A View_Consolidação_De_Compras_Por_Fornecedor é uma visualização do banco de dados que reúne as informações das compras realizadas com cada fornecedor. Ela permite consultar e analisar os produtos comprados e as quantidades adquiridas de cada fornecedor. Sua principal função é facilitar o controle das compras, ajudando a empresa a acompanhar os gastos, comparar fornecedores e organizar melhor o processo de reposição do estoque.</a:t>
            </a:r>
          </a:p>
          <a:p>
            <a:endParaRPr lang="pt-BR" dirty="0"/>
          </a:p>
        </p:txBody>
      </p:sp>
      <p:pic>
        <p:nvPicPr>
          <p:cNvPr id="8194" name="Picture 2"/>
          <p:cNvPicPr>
            <a:picLocks noChangeAspect="1" noChangeArrowheads="1"/>
          </p:cNvPicPr>
          <p:nvPr/>
        </p:nvPicPr>
        <p:blipFill>
          <a:blip r:embed="rId2"/>
          <a:srcRect/>
          <a:stretch>
            <a:fillRect/>
          </a:stretch>
        </p:blipFill>
        <p:spPr bwMode="auto">
          <a:xfrm>
            <a:off x="1500166" y="4572008"/>
            <a:ext cx="5802313" cy="116205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effectLst>
                  <a:outerShdw blurRad="38100" dist="38100" dir="2700000" algn="tl">
                    <a:srgbClr val="000000">
                      <a:alpha val="43137"/>
                    </a:srgbClr>
                  </a:outerShdw>
                </a:effectLst>
              </a:rPr>
              <a:t>view_de_demanda_de_produtos</a:t>
            </a:r>
            <a:r>
              <a:rPr lang="pt-BR" dirty="0"/>
              <a:t/>
            </a:r>
            <a:br>
              <a:rPr lang="pt-BR" dirty="0"/>
            </a:br>
            <a:endParaRPr lang="pt-BR" dirty="0"/>
          </a:p>
        </p:txBody>
      </p:sp>
      <p:sp>
        <p:nvSpPr>
          <p:cNvPr id="3" name="Espaço Reservado para Conteúdo 2"/>
          <p:cNvSpPr>
            <a:spLocks noGrp="1"/>
          </p:cNvSpPr>
          <p:nvPr>
            <p:ph idx="1"/>
          </p:nvPr>
        </p:nvSpPr>
        <p:spPr>
          <a:xfrm>
            <a:off x="457200" y="1600201"/>
            <a:ext cx="8229600" cy="1614485"/>
          </a:xfrm>
        </p:spPr>
        <p:txBody>
          <a:bodyPr>
            <a:normAutofit/>
          </a:bodyPr>
          <a:lstStyle/>
          <a:p>
            <a:pPr>
              <a:buNone/>
            </a:pPr>
            <a:r>
              <a:rPr lang="pt-BR" sz="1600" dirty="0" smtClean="0"/>
              <a:t>A </a:t>
            </a:r>
            <a:r>
              <a:rPr lang="pt-BR" sz="1600" b="1" dirty="0"/>
              <a:t>view_de_demanda_de_produtos</a:t>
            </a:r>
            <a:r>
              <a:rPr lang="pt-BR" sz="1600" dirty="0"/>
              <a:t> é uma visualização do banco de dados que mostra quais produtos possuem maior procura pelos clientes. Ela permite analisar a quantidade de produtos solicitados nos pedidos, ajudando a empresa a identificar os itens mais procurados. Sua principal função é facilitar o planejamento das compras e o controle do estoque, evitando a falta de produtos e melhorando a organização da empresa.</a:t>
            </a:r>
          </a:p>
          <a:p>
            <a:endParaRPr lang="pt-BR" dirty="0"/>
          </a:p>
        </p:txBody>
      </p:sp>
      <p:pic>
        <p:nvPicPr>
          <p:cNvPr id="9218" name="Picture 2"/>
          <p:cNvPicPr>
            <a:picLocks noChangeAspect="1" noChangeArrowheads="1"/>
          </p:cNvPicPr>
          <p:nvPr/>
        </p:nvPicPr>
        <p:blipFill>
          <a:blip r:embed="rId2"/>
          <a:srcRect/>
          <a:stretch>
            <a:fillRect/>
          </a:stretch>
        </p:blipFill>
        <p:spPr bwMode="auto">
          <a:xfrm>
            <a:off x="2143108" y="4357694"/>
            <a:ext cx="4152900" cy="117157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sz="3100" dirty="0">
                <a:effectLst>
                  <a:outerShdw blurRad="38100" dist="38100" dir="2700000" algn="tl">
                    <a:srgbClr val="000000">
                      <a:alpha val="43137"/>
                    </a:srgbClr>
                  </a:outerShdw>
                </a:effectLst>
              </a:rPr>
              <a:t>view_pedidos_com_valor_maior_que_media</a:t>
            </a:r>
            <a:r>
              <a:rPr lang="pt-BR" dirty="0"/>
              <a:t/>
            </a:r>
            <a:br>
              <a:rPr lang="pt-BR" dirty="0"/>
            </a:br>
            <a:endParaRPr lang="pt-BR" dirty="0"/>
          </a:p>
        </p:txBody>
      </p:sp>
      <p:sp>
        <p:nvSpPr>
          <p:cNvPr id="3" name="Espaço Reservado para Conteúdo 2"/>
          <p:cNvSpPr>
            <a:spLocks noGrp="1"/>
          </p:cNvSpPr>
          <p:nvPr>
            <p:ph idx="1"/>
          </p:nvPr>
        </p:nvSpPr>
        <p:spPr>
          <a:xfrm>
            <a:off x="457200" y="1600201"/>
            <a:ext cx="8229600" cy="1471609"/>
          </a:xfrm>
        </p:spPr>
        <p:txBody>
          <a:bodyPr>
            <a:normAutofit/>
          </a:bodyPr>
          <a:lstStyle/>
          <a:p>
            <a:pPr>
              <a:buNone/>
            </a:pPr>
            <a:r>
              <a:rPr lang="pt-BR" sz="1600" dirty="0" smtClean="0"/>
              <a:t>A view_pedidos_com_valor_maior_que_media é uma visualização do banco de dados que mostra os pedidos com valores acima da média dos pedidos realizados. Ela permite identificar quais pedidos possuem valores mais altos, facilitando a análise das vendas. Sua principal função é ajudar a empresa a acompanhar os pedidos de maior valor e compreender melhor o desempenho financeiro do negócio.</a:t>
            </a:r>
          </a:p>
          <a:p>
            <a:endParaRPr lang="pt-BR" dirty="0"/>
          </a:p>
        </p:txBody>
      </p:sp>
      <p:pic>
        <p:nvPicPr>
          <p:cNvPr id="10242" name="Picture 2"/>
          <p:cNvPicPr>
            <a:picLocks noChangeAspect="1" noChangeArrowheads="1"/>
          </p:cNvPicPr>
          <p:nvPr/>
        </p:nvPicPr>
        <p:blipFill>
          <a:blip r:embed="rId2"/>
          <a:srcRect/>
          <a:stretch>
            <a:fillRect/>
          </a:stretch>
        </p:blipFill>
        <p:spPr bwMode="auto">
          <a:xfrm>
            <a:off x="3071802" y="4429132"/>
            <a:ext cx="2500330" cy="119062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3200" dirty="0">
                <a:effectLst>
                  <a:outerShdw blurRad="38100" dist="38100" dir="2700000" algn="tl">
                    <a:srgbClr val="000000">
                      <a:alpha val="43137"/>
                    </a:srgbClr>
                  </a:outerShdw>
                </a:effectLst>
              </a:rPr>
              <a:t>view_produtos_mais_vendidos_no_ultimo_mes</a:t>
            </a:r>
            <a:br>
              <a:rPr lang="pt-BR" sz="3200" dirty="0">
                <a:effectLst>
                  <a:outerShdw blurRad="38100" dist="38100" dir="2700000" algn="tl">
                    <a:srgbClr val="000000">
                      <a:alpha val="43137"/>
                    </a:srgbClr>
                  </a:outerShdw>
                </a:effectLst>
              </a:rPr>
            </a:br>
            <a:endParaRPr lang="pt-BR" sz="3200"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57200" y="1600201"/>
            <a:ext cx="8229600" cy="1757361"/>
          </a:xfrm>
        </p:spPr>
        <p:txBody>
          <a:bodyPr>
            <a:normAutofit/>
          </a:bodyPr>
          <a:lstStyle/>
          <a:p>
            <a:pPr>
              <a:buNone/>
            </a:pPr>
            <a:r>
              <a:rPr lang="pt-BR" sz="1700" dirty="0" smtClean="0"/>
              <a:t>A </a:t>
            </a:r>
            <a:r>
              <a:rPr lang="pt-BR" sz="1700" b="1" dirty="0"/>
              <a:t>view_produtos_mais_vendidos_no_ultimo_mes</a:t>
            </a:r>
            <a:r>
              <a:rPr lang="pt-BR" sz="1700" dirty="0"/>
              <a:t> é uma visualização do banco de dados que mostra os produtos mais vendidos durante o último mês. Ela permite identificar quais produtos tiveram maior saída, ajudando a empresa a analisar as vendas e entender as preferências dos clientes. Sua principal função é facilitar o controle do estoque e o planejamento de novas compras, evitando a falta dos produtos mais procurados.</a:t>
            </a:r>
          </a:p>
          <a:p>
            <a:pPr>
              <a:buNone/>
            </a:pPr>
            <a:endParaRPr lang="pt-BR" dirty="0"/>
          </a:p>
        </p:txBody>
      </p:sp>
      <p:pic>
        <p:nvPicPr>
          <p:cNvPr id="11266" name="Picture 2"/>
          <p:cNvPicPr>
            <a:picLocks noChangeAspect="1" noChangeArrowheads="1"/>
          </p:cNvPicPr>
          <p:nvPr/>
        </p:nvPicPr>
        <p:blipFill>
          <a:blip r:embed="rId2"/>
          <a:srcRect/>
          <a:stretch>
            <a:fillRect/>
          </a:stretch>
        </p:blipFill>
        <p:spPr bwMode="auto">
          <a:xfrm>
            <a:off x="2571736" y="4929198"/>
            <a:ext cx="2733675" cy="46672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effectLst>
                  <a:outerShdw blurRad="38100" dist="38100" dir="2700000" algn="tl">
                    <a:srgbClr val="000000">
                      <a:alpha val="43137"/>
                    </a:srgbClr>
                  </a:outerShdw>
                </a:effectLst>
              </a:rPr>
              <a:t>trg_atualiza_estoque_compras</a:t>
            </a:r>
            <a:br>
              <a:rPr lang="pt-BR" dirty="0">
                <a:effectLst>
                  <a:outerShdw blurRad="38100" dist="38100" dir="2700000" algn="tl">
                    <a:srgbClr val="000000">
                      <a:alpha val="43137"/>
                    </a:srgbClr>
                  </a:outerShdw>
                </a:effectLst>
              </a:rPr>
            </a:b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500034" y="1428737"/>
            <a:ext cx="8229600" cy="1571636"/>
          </a:xfrm>
        </p:spPr>
        <p:txBody>
          <a:bodyPr>
            <a:normAutofit/>
          </a:bodyPr>
          <a:lstStyle/>
          <a:p>
            <a:pPr>
              <a:buNone/>
            </a:pPr>
            <a:r>
              <a:rPr lang="pt-BR" sz="1600" dirty="0" smtClean="0"/>
              <a:t>A trg_atualiza_estoque_compras é uma </a:t>
            </a:r>
            <a:r>
              <a:rPr lang="pt-BR" sz="1600" dirty="0" err="1" smtClean="0"/>
              <a:t>trigger</a:t>
            </a:r>
            <a:r>
              <a:rPr lang="pt-BR" sz="1600" dirty="0" smtClean="0"/>
              <a:t> do banco de dados responsável por atualizar automaticamente o estoque quando uma compra é registrada. Ela aumenta a quantidade disponível dos produtos conforme as unidades compradas. Sua principal função é manter o estoque atualizado, reduzir erros no controle de produtos e facilitar o gerenciamento das entradas de mercadorias na empresa.</a:t>
            </a:r>
          </a:p>
          <a:p>
            <a:endParaRPr lang="pt-BR" sz="1600" dirty="0"/>
          </a:p>
        </p:txBody>
      </p:sp>
      <p:pic>
        <p:nvPicPr>
          <p:cNvPr id="12290" name="Picture 2"/>
          <p:cNvPicPr>
            <a:picLocks noChangeAspect="1" noChangeArrowheads="1"/>
          </p:cNvPicPr>
          <p:nvPr/>
        </p:nvPicPr>
        <p:blipFill>
          <a:blip r:embed="rId2"/>
          <a:srcRect/>
          <a:stretch>
            <a:fillRect/>
          </a:stretch>
        </p:blipFill>
        <p:spPr bwMode="auto">
          <a:xfrm>
            <a:off x="2285984" y="4357694"/>
            <a:ext cx="3914775" cy="101917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effectLst>
                  <a:outerShdw blurRad="38100" dist="38100" dir="2700000" algn="tl">
                    <a:srgbClr val="000000">
                      <a:alpha val="43137"/>
                    </a:srgbClr>
                  </a:outerShdw>
                </a:effectLst>
              </a:rPr>
              <a:t>trg_atualiza_estoque_pedidos</a:t>
            </a:r>
            <a:br>
              <a:rPr lang="pt-BR" dirty="0">
                <a:effectLst>
                  <a:outerShdw blurRad="38100" dist="38100" dir="2700000" algn="tl">
                    <a:srgbClr val="000000">
                      <a:alpha val="43137"/>
                    </a:srgbClr>
                  </a:outerShdw>
                </a:effectLst>
              </a:rPr>
            </a:br>
            <a:endParaRPr lang="pt-BR" dirty="0">
              <a:effectLst>
                <a:outerShdw blurRad="38100" dist="38100" dir="2700000" algn="tl">
                  <a:srgbClr val="000000">
                    <a:alpha val="43137"/>
                  </a:srgbClr>
                </a:outerShdw>
              </a:effectLst>
            </a:endParaRPr>
          </a:p>
        </p:txBody>
      </p:sp>
      <p:sp>
        <p:nvSpPr>
          <p:cNvPr id="3" name="Espaço Reservado para Conteúdo 2"/>
          <p:cNvSpPr>
            <a:spLocks noGrp="1"/>
          </p:cNvSpPr>
          <p:nvPr>
            <p:ph idx="1"/>
          </p:nvPr>
        </p:nvSpPr>
        <p:spPr>
          <a:xfrm>
            <a:off x="457200" y="1600201"/>
            <a:ext cx="8229600" cy="1543048"/>
          </a:xfrm>
        </p:spPr>
        <p:txBody>
          <a:bodyPr>
            <a:normAutofit/>
          </a:bodyPr>
          <a:lstStyle/>
          <a:p>
            <a:pPr>
              <a:buNone/>
            </a:pPr>
            <a:r>
              <a:rPr lang="pt-BR" sz="1600" dirty="0" smtClean="0"/>
              <a:t>A </a:t>
            </a:r>
            <a:r>
              <a:rPr lang="pt-BR" sz="1600" b="1" dirty="0"/>
              <a:t>trg_atualiza_estoque_pedidos</a:t>
            </a:r>
            <a:r>
              <a:rPr lang="pt-BR" sz="1600" dirty="0"/>
              <a:t> é uma </a:t>
            </a:r>
            <a:r>
              <a:rPr lang="pt-BR" sz="1600" dirty="0" err="1"/>
              <a:t>trigger</a:t>
            </a:r>
            <a:r>
              <a:rPr lang="pt-BR" sz="1600" dirty="0"/>
              <a:t> do banco de dados responsável por atualizar automaticamente o estoque quando um pedido é registrado. Ela diminui a quantidade disponível de acordo com os produtos solicitados. Sua principal função é manter o estoque atualizado, evitar divergências na quantidade de produtos e facilitar o controle das saídas de mercadorias da empresa.</a:t>
            </a:r>
          </a:p>
          <a:p>
            <a:pPr>
              <a:buNone/>
            </a:pPr>
            <a:endParaRPr lang="pt-BR" sz="1600" dirty="0"/>
          </a:p>
        </p:txBody>
      </p:sp>
      <p:pic>
        <p:nvPicPr>
          <p:cNvPr id="13314" name="Picture 2"/>
          <p:cNvPicPr>
            <a:picLocks noChangeAspect="1" noChangeArrowheads="1"/>
          </p:cNvPicPr>
          <p:nvPr/>
        </p:nvPicPr>
        <p:blipFill>
          <a:blip r:embed="rId2"/>
          <a:srcRect/>
          <a:stretch>
            <a:fillRect/>
          </a:stretch>
        </p:blipFill>
        <p:spPr bwMode="auto">
          <a:xfrm>
            <a:off x="2428860" y="4214818"/>
            <a:ext cx="3857625" cy="1171575"/>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effectLst>
                  <a:outerShdw blurRad="38100" dist="38100" dir="2700000" algn="tl">
                    <a:srgbClr val="000000">
                      <a:alpha val="43137"/>
                    </a:srgbClr>
                  </a:outerShdw>
                </a:effectLst>
              </a:rPr>
              <a:t>trg_produtos_alteracao</a:t>
            </a:r>
          </a:p>
        </p:txBody>
      </p:sp>
      <p:sp>
        <p:nvSpPr>
          <p:cNvPr id="3" name="Espaço Reservado para Conteúdo 2"/>
          <p:cNvSpPr>
            <a:spLocks noGrp="1"/>
          </p:cNvSpPr>
          <p:nvPr>
            <p:ph idx="1"/>
          </p:nvPr>
        </p:nvSpPr>
        <p:spPr>
          <a:xfrm>
            <a:off x="457200" y="1600201"/>
            <a:ext cx="8229600" cy="1471610"/>
          </a:xfrm>
        </p:spPr>
        <p:txBody>
          <a:bodyPr>
            <a:normAutofit/>
          </a:bodyPr>
          <a:lstStyle/>
          <a:p>
            <a:pPr>
              <a:buNone/>
            </a:pPr>
            <a:r>
              <a:rPr lang="pt-BR" sz="1600" dirty="0" smtClean="0"/>
              <a:t>A trg_produtos_alteracao é uma </a:t>
            </a:r>
            <a:r>
              <a:rPr lang="pt-BR" sz="1600" dirty="0" err="1" smtClean="0"/>
              <a:t>trigger</a:t>
            </a:r>
            <a:r>
              <a:rPr lang="pt-BR" sz="1600" dirty="0" smtClean="0"/>
              <a:t> do banco de dados responsável por executar uma ação automaticamente quando ocorre uma alteração nos dados de um produto. Ela pode ser utilizada para acompanhar mudanças em informações como nome, preço ou quantidade em estoque. Sua principal função é ajudar a manter os dados organizados e garantir maior controle sobre as alterações realizadas nos produtos.</a:t>
            </a:r>
          </a:p>
          <a:p>
            <a:pPr>
              <a:buNone/>
            </a:pPr>
            <a:endParaRPr lang="pt-BR" sz="1600" dirty="0"/>
          </a:p>
        </p:txBody>
      </p:sp>
      <p:pic>
        <p:nvPicPr>
          <p:cNvPr id="14339" name="Picture 3"/>
          <p:cNvPicPr>
            <a:picLocks noChangeAspect="1" noChangeArrowheads="1"/>
          </p:cNvPicPr>
          <p:nvPr/>
        </p:nvPicPr>
        <p:blipFill>
          <a:blip r:embed="rId2"/>
          <a:srcRect/>
          <a:stretch>
            <a:fillRect/>
          </a:stretch>
        </p:blipFill>
        <p:spPr bwMode="auto">
          <a:xfrm>
            <a:off x="2714612" y="2928934"/>
            <a:ext cx="3286148" cy="3714777"/>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sp>
        <p:nvSpPr>
          <p:cNvPr id="3" name="Espaço Reservado para Conteúdo 2"/>
          <p:cNvSpPr>
            <a:spLocks noGrp="1"/>
          </p:cNvSpPr>
          <p:nvPr>
            <p:ph idx="1"/>
          </p:nvPr>
        </p:nvSpPr>
        <p:spPr/>
        <p:txBody>
          <a:bodyPr/>
          <a:lstStyle/>
          <a:p>
            <a:endParaRPr lang="pt-BR"/>
          </a:p>
        </p:txBody>
      </p:sp>
      <p:pic>
        <p:nvPicPr>
          <p:cNvPr id="16387" name="Picture 3"/>
          <p:cNvPicPr>
            <a:picLocks noChangeAspect="1" noChangeArrowheads="1"/>
          </p:cNvPicPr>
          <p:nvPr/>
        </p:nvPicPr>
        <p:blipFill>
          <a:blip r:embed="rId2"/>
          <a:srcRect/>
          <a:stretch>
            <a:fillRect/>
          </a:stretch>
        </p:blipFill>
        <p:spPr bwMode="auto">
          <a:xfrm>
            <a:off x="-1095375" y="-333375"/>
            <a:ext cx="11336338" cy="7526338"/>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104</TotalTime>
  <Words>1061</Words>
  <Application>Microsoft Office PowerPoint</Application>
  <PresentationFormat>Apresentação na tela (4:3)</PresentationFormat>
  <Paragraphs>46</Paragraphs>
  <Slides>17</Slides>
  <Notes>0</Notes>
  <HiddenSlides>0</HiddenSlides>
  <MMClips>0</MMClips>
  <ScaleCrop>false</ScaleCrop>
  <HeadingPairs>
    <vt:vector size="4" baseType="variant">
      <vt:variant>
        <vt:lpstr>Tema</vt:lpstr>
      </vt:variant>
      <vt:variant>
        <vt:i4>1</vt:i4>
      </vt:variant>
      <vt:variant>
        <vt:lpstr>Títulos de slides</vt:lpstr>
      </vt:variant>
      <vt:variant>
        <vt:i4>17</vt:i4>
      </vt:variant>
    </vt:vector>
  </HeadingPairs>
  <TitlesOfParts>
    <vt:vector size="18" baseType="lpstr">
      <vt:lpstr>Tema do Office</vt:lpstr>
      <vt:lpstr>Projeto final</vt:lpstr>
      <vt:lpstr>S.PROCEDURES </vt:lpstr>
      <vt:lpstr>Tabela clientes</vt:lpstr>
      <vt:lpstr>Tabela compras </vt:lpstr>
      <vt:lpstr>Tabela fornecedor</vt:lpstr>
      <vt:lpstr>Tabela pedido</vt:lpstr>
      <vt:lpstr>Tabela produtos</vt:lpstr>
      <vt:lpstr>View_Clientes_Com_Mais_Compras </vt:lpstr>
      <vt:lpstr>View_Compra_Detalhada </vt:lpstr>
      <vt:lpstr>View_Consolidação_De_Compras_Por_Fornecedor </vt:lpstr>
      <vt:lpstr>view_de_demanda_de_produtos </vt:lpstr>
      <vt:lpstr>view_pedidos_com_valor_maior_que_media </vt:lpstr>
      <vt:lpstr>view_produtos_mais_vendidos_no_ultimo_mes </vt:lpstr>
      <vt:lpstr>trg_atualiza_estoque_compras </vt:lpstr>
      <vt:lpstr>trg_atualiza_estoque_pedidos </vt:lpstr>
      <vt:lpstr>trg_produtos_alteracao</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Projeto final</dc:title>
  <dc:creator>aluno</dc:creator>
  <cp:lastModifiedBy>aluno</cp:lastModifiedBy>
  <cp:revision>1</cp:revision>
  <dcterms:created xsi:type="dcterms:W3CDTF">2026-10-15T17:05:26Z</dcterms:created>
  <dcterms:modified xsi:type="dcterms:W3CDTF">2026-10-15T18:49:29Z</dcterms:modified>
</cp:coreProperties>
</file>